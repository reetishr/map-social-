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F5F5F8"/>
                </a:solidFill>
                <a:latin typeface="Arial"/>
              </a:defRPr>
            </a:pPr>
            <a:r>
              <a:rPr sz="1300" b="1" i="0" u="none" strike="noStrike">
                <a:solidFill>
                  <a:srgbClr val="F5F5F8"/>
                </a:solidFill>
                <a:latin typeface="Arial"/>
              </a:rPr>
              <a:t>Weighted decision matrix — weight by factor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in group match score (%)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5F5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Travel convenience</c:v>
                  </c:pt>
                  <c:pt idx="1">
                    <c:v>Preference fit</c:v>
                  </c:pt>
                  <c:pt idx="2">
                    <c:v>Budget fit</c:v>
                  </c:pt>
                  <c:pt idx="3">
                    <c:v>Fairness</c:v>
                  </c:pt>
                  <c:pt idx="4">
                    <c:v>Venue quality</c:v>
                  </c:pt>
                  <c:pt idx="5">
                    <c:v>Accessibility</c:v>
                  </c:pt>
                  <c:pt idx="6">
                    <c:v>Availability</c:v>
                  </c:pt>
                  <c:pt idx="7">
                    <c:v>Novelty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F5F5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FAF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0"/>
        <c:axPos val="b"/>
        <c:majorGridlines>
          <c:spPr>
            <a:ln w="9525" cap="flat">
              <a:solidFill>
                <a:srgbClr val="2A2A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AFC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80D"/>
        </a:solidFill>
        <a:ln>
          <a:noFill/>
        </a:ln>
        <a:effectLst/>
      </c:spPr>
    </c:plotArea>
    <c:plotVisOnly val="1"/>
    <c:dispBlanksAs val="span"/>
  </c:chart>
  <c:spPr>
    <a:solidFill>
      <a:srgbClr val="0808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768096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6400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TEARDOWN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pPr indent="0" marL="0">
              <a:buNone/>
            </a:pPr>
            <a:r>
              <a:rPr lang="en-US" sz="8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FA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debating. More doing.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6949440" cy="1371600"/>
          </a:xfrm>
          <a:prstGeom prst="roundRect">
            <a:avLst>
              <a:gd name="adj" fmla="val 6667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16052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decision engine that ends group-chat gridlock — turning “where should we go?” into a confirmed plan in under five minutes, for groups spread across a city with no obvious meeting point.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· BETA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94015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whereto.app/demo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85216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457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plan starts the same way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decides to meet up. Then the thread happens.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778301" cy="457200"/>
          </a:xfrm>
          <a:prstGeom prst="roundRect">
            <a:avLst>
              <a:gd name="adj" fmla="val 28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514600"/>
            <a:ext cx="34125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go?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14016" y="3081528"/>
            <a:ext cx="3803904" cy="457200"/>
          </a:xfrm>
          <a:prstGeom prst="roundRect">
            <a:avLst>
              <a:gd name="adj" fmla="val 28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15184" y="308152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is fine tbh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3829507" cy="457200"/>
          </a:xfrm>
          <a:prstGeom prst="roundRect">
            <a:avLst>
              <a:gd name="adj" fmla="val 28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648456"/>
            <a:ext cx="34637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too far for 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57984" y="4215384"/>
            <a:ext cx="4059936" cy="457200"/>
          </a:xfrm>
          <a:prstGeom prst="roundRect">
            <a:avLst>
              <a:gd name="adj" fmla="val 28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59152" y="4215384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place is expensive though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82312"/>
            <a:ext cx="4034333" cy="457200"/>
          </a:xfrm>
          <a:prstGeom prst="roundRect">
            <a:avLst>
              <a:gd name="adj" fmla="val 28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782312"/>
            <a:ext cx="36685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already been there twice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337206" y="5349240"/>
            <a:ext cx="3880714" cy="457200"/>
          </a:xfrm>
          <a:prstGeom prst="roundRect">
            <a:avLst>
              <a:gd name="adj" fmla="val 28000"/>
            </a:avLst>
          </a:prstGeom>
          <a:solidFill>
            <a:srgbClr val="1B1B28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38374" y="5349240"/>
            <a:ext cx="351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just decide later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25146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1A08"/>
          </a:solidFill>
          <a:ln w="9525">
            <a:solidFill>
              <a:srgbClr val="6B4A1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threads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64040" y="25146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1A08"/>
          </a:solidFill>
          <a:ln w="9525">
            <a:solidFill>
              <a:srgbClr val="6B4A1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6404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commutes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32004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1A08"/>
          </a:solidFill>
          <a:ln w="9525">
            <a:solidFill>
              <a:srgbClr val="6B4A1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64040" y="32004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1A08"/>
          </a:solidFill>
          <a:ln w="9525">
            <a:solidFill>
              <a:srgbClr val="6B4A1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64040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suggestions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3886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1A08"/>
          </a:solidFill>
          <a:ln w="9525">
            <a:solidFill>
              <a:srgbClr val="6B4A1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planning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464040" y="38862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1A08"/>
          </a:solidFill>
          <a:ln w="9525">
            <a:solidFill>
              <a:srgbClr val="6B4A1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6404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plans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85216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457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WHO THIS IS FOR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people, one thread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has an organizer absorbing the coordination cost, and participants who'll bail on anything that feels like work.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926080"/>
            <a:ext cx="566928" cy="566928"/>
          </a:xfrm>
          <a:prstGeom prst="ellipse">
            <a:avLst/>
          </a:prstGeom>
          <a:solidFill>
            <a:srgbClr val="84E0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352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278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ORGANIZER · 28 · PM · WHITEFIELD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3657600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1B1B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576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always the one who ends up planning — and then everyone quietly hates where we land anyway.”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99432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314700" y="4599432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846320"/>
            <a:ext cx="22631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›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outcome without doing all the legwork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›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people actually show up to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›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who's in, who's stalling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14700" y="4846320"/>
            <a:ext cx="22631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blame if the pick is bad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five people for a location pin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fair way to weigh conflicting asks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60604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92608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29352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2278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PARTICIPANT · 26 · ENGINEER · MALLESHWARAM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0" y="3657600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1B1B2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36576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“I’ll join if it takes thirty seconds. I’m not making an account for a Friday hangout.”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599432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029700" y="4599432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846320"/>
            <a:ext cx="22631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›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say, with near-zero effort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›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his exact address to himself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›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a place got picked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029700" y="4846320"/>
            <a:ext cx="22631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download another app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Distrusts “smart” picks with no reasoning</a:t>
            </a:r>
            <a:endParaRPr lang="en-US" sz="10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want his commute made everyone's problem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recurs across couples, families weighing parking and accessibility, and coworkers planning around office hours and a shared budget.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85216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457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FLOW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steps, five minutes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in, one confirmed plan out — no app install, no account, for anyone but the organizer.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39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260566" cy="0"/>
          </a:xfrm>
          <a:prstGeom prst="line">
            <a:avLst/>
          </a:prstGeom>
          <a:noFill/>
          <a:ln w="12700">
            <a:solidFill>
              <a:srgbClr val="2A2A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64992"/>
            <a:ext cx="1397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30752"/>
            <a:ext cx="13520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activity, date, budget. Organizer gets an invite link.</a:t>
            </a:r>
            <a:endParaRPr lang="en-US" sz="970" dirty="0"/>
          </a:p>
        </p:txBody>
      </p:sp>
      <p:sp>
        <p:nvSpPr>
          <p:cNvPr id="11" name="Text 9"/>
          <p:cNvSpPr txBox="1"/>
          <p:nvPr/>
        </p:nvSpPr>
        <p:spPr>
          <a:xfrm>
            <a:off x="2129246" y="2697480"/>
            <a:ext cx="139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129246" y="3246120"/>
            <a:ext cx="1260566" cy="0"/>
          </a:xfrm>
          <a:prstGeom prst="line">
            <a:avLst/>
          </a:prstGeom>
          <a:noFill/>
          <a:ln w="12700">
            <a:solidFill>
              <a:srgbClr val="2A2A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29246" y="3364992"/>
            <a:ext cx="1397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129246" y="3730752"/>
            <a:ext cx="13520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link, any channel. No app to install.</a:t>
            </a:r>
            <a:endParaRPr lang="en-US" sz="970" dirty="0"/>
          </a:p>
        </p:txBody>
      </p:sp>
      <p:sp>
        <p:nvSpPr>
          <p:cNvPr id="15" name="Text 13"/>
          <p:cNvSpPr txBox="1"/>
          <p:nvPr/>
        </p:nvSpPr>
        <p:spPr>
          <a:xfrm>
            <a:off x="3709851" y="2697480"/>
            <a:ext cx="139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709851" y="3246120"/>
            <a:ext cx="1260566" cy="0"/>
          </a:xfrm>
          <a:prstGeom prst="line">
            <a:avLst/>
          </a:prstGeom>
          <a:noFill/>
          <a:ln w="12700">
            <a:solidFill>
              <a:srgbClr val="2A2A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09851" y="3364992"/>
            <a:ext cx="1397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privately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709851" y="3730752"/>
            <a:ext cx="13520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name. Location and prefs stay private by default.</a:t>
            </a:r>
            <a:endParaRPr lang="en-US" sz="970" dirty="0"/>
          </a:p>
        </p:txBody>
      </p:sp>
      <p:sp>
        <p:nvSpPr>
          <p:cNvPr id="19" name="Text 17"/>
          <p:cNvSpPr txBox="1"/>
          <p:nvPr/>
        </p:nvSpPr>
        <p:spPr>
          <a:xfrm>
            <a:off x="5290457" y="2697480"/>
            <a:ext cx="139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290457" y="3246120"/>
            <a:ext cx="1260566" cy="0"/>
          </a:xfrm>
          <a:prstGeom prst="line">
            <a:avLst/>
          </a:prstGeom>
          <a:noFill/>
          <a:ln w="12700">
            <a:solidFill>
              <a:srgbClr val="2A2A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90457" y="3364992"/>
            <a:ext cx="1397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terms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90457" y="3730752"/>
            <a:ext cx="13520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budget, travel limit, deal-breakers.</a:t>
            </a:r>
            <a:endParaRPr lang="en-US" sz="970" dirty="0"/>
          </a:p>
        </p:txBody>
      </p:sp>
      <p:sp>
        <p:nvSpPr>
          <p:cNvPr id="23" name="Text 21"/>
          <p:cNvSpPr txBox="1"/>
          <p:nvPr/>
        </p:nvSpPr>
        <p:spPr>
          <a:xfrm>
            <a:off x="6871063" y="2697480"/>
            <a:ext cx="139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871063" y="3246120"/>
            <a:ext cx="1260566" cy="0"/>
          </a:xfrm>
          <a:prstGeom prst="line">
            <a:avLst/>
          </a:prstGeom>
          <a:noFill/>
          <a:ln w="12700">
            <a:solidFill>
              <a:srgbClr val="2A2A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71063" y="3364992"/>
            <a:ext cx="1397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zone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871063" y="3730752"/>
            <a:ext cx="13520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Fairest meeting area — not the geographic midpoint.</a:t>
            </a:r>
            <a:endParaRPr lang="en-US" sz="970" dirty="0"/>
          </a:p>
        </p:txBody>
      </p:sp>
      <p:sp>
        <p:nvSpPr>
          <p:cNvPr id="27" name="Text 25"/>
          <p:cNvSpPr txBox="1"/>
          <p:nvPr/>
        </p:nvSpPr>
        <p:spPr>
          <a:xfrm>
            <a:off x="8451669" y="2697480"/>
            <a:ext cx="139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451669" y="3246120"/>
            <a:ext cx="1260566" cy="0"/>
          </a:xfrm>
          <a:prstGeom prst="line">
            <a:avLst/>
          </a:prstGeom>
          <a:noFill/>
          <a:ln w="12700">
            <a:solidFill>
              <a:srgbClr val="2A2A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51669" y="3364992"/>
            <a:ext cx="1397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picks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451669" y="3730752"/>
            <a:ext cx="13520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Overall, Most Convenient, Wild Card — each explained.</a:t>
            </a:r>
            <a:endParaRPr lang="en-US" sz="970" dirty="0"/>
          </a:p>
        </p:txBody>
      </p:sp>
      <p:sp>
        <p:nvSpPr>
          <p:cNvPr id="31" name="Text 29"/>
          <p:cNvSpPr txBox="1"/>
          <p:nvPr/>
        </p:nvSpPr>
        <p:spPr>
          <a:xfrm>
            <a:off x="10032274" y="2697480"/>
            <a:ext cx="1397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0032274" y="3246120"/>
            <a:ext cx="1260566" cy="0"/>
          </a:xfrm>
          <a:prstGeom prst="line">
            <a:avLst/>
          </a:prstGeom>
          <a:noFill/>
          <a:ln w="12700">
            <a:solidFill>
              <a:srgbClr val="2A2A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32274" y="3364992"/>
            <a:ext cx="13977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&amp; lock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032274" y="3730752"/>
            <a:ext cx="13520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votes live. Organizer confirms. Plan locked.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85216"/>
            <a:ext cx="73152" cy="7315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457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HOW IT DECIDES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finds candidates. The engine judges them.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deliberately separated — so the actual decision stays explainable.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5151F"/>
          </a:solidFill>
          <a:ln w="12700">
            <a:solidFill>
              <a:srgbClr val="1E4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231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SEARCH &amp; INFORMATION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700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+ enrich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9923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real candidate venues and pulls in real-world signal — ratings, reviews, photos, hours, price. Today: Google Places. This is exactly where an LLM-driven search agent slots in next.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5151F"/>
          </a:solidFill>
          <a:ln w="12700">
            <a:solidFill>
              <a:srgbClr val="3A2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4231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DECISION ENGINE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700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+ choose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9923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weighted matrix scores every candidate against the group's real constraints. Same inputs, same output — reproducible, not a black-box guess.</a:t>
            </a:r>
            <a:endParaRPr lang="en-US" sz="9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703320"/>
          <a:ext cx="11064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85216"/>
            <a:ext cx="73152" cy="73152"/>
          </a:xfrm>
          <a:prstGeom prst="ellipse">
            <a:avLst/>
          </a:prstGeom>
          <a:solidFill>
            <a:srgbClr val="84E0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457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WHY NOT JUST USE MAPS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over discovery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and directories are built to show you everything. WhereTo is built to end the conversation.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FA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&amp; DIRECTORY APPS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8328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✕"/>
            </a:pPr>
            <a:r>
              <a:rPr lang="en-US" sz="12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results, sorted by distance or rating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✕"/>
            </a:pPr>
            <a:r>
              <a:rPr lang="en-US" sz="12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midpoint, not fairness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✕"/>
            </a:pPr>
            <a:r>
              <a:rPr lang="en-US" sz="12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still has to pick and defend it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✕"/>
            </a:pPr>
            <a:r>
              <a:rPr lang="en-US" sz="12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sense of who in the group is even free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5151F"/>
          </a:solidFill>
          <a:ln w="12700">
            <a:solidFill>
              <a:srgbClr val="3F6B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926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E0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WHERETO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38328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0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picks, each with a plain-language reason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0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Fairness-weighted meeting zone across real commutes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0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votes; the organizer just confirms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200" dirty="0">
                <a:solidFill>
                  <a:srgbClr val="F5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lobby shows who's joined, ready, and voted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SLIDES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watch it decide.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75608" y="4297680"/>
            <a:ext cx="3840480" cy="594360"/>
          </a:xfrm>
          <a:prstGeom prst="roundRect">
            <a:avLst>
              <a:gd name="adj" fmla="val 15385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75608" y="4297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whereto.app/demo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585216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457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WHAT'S NEXT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144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Bangalore beta to any city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8036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›"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Ranked-choice and swipe voting modes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›"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groups and saved locations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›"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sync and live traffic recalculation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›"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history and preference learning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5151F"/>
          </a:solidFill>
          <a:ln w="9525">
            <a:solidFill>
              <a:srgbClr val="2A2A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67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8036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›"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search layer — web, not just Places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›"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support beyond Bangalore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›"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Multi-stop itineraries and automated booking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›"/>
            </a:pPr>
            <a:r>
              <a:rPr lang="en-US" sz="1250" dirty="0">
                <a:solidFill>
                  <a:srgbClr val="A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apps and group expense splitting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pPr algn="ctr"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FA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debating. More doing.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2026-09-04T06:46:19Z</dcterms:created>
  <dcterms:modified xsi:type="dcterms:W3CDTF">2026-09-04T06:46:19Z</dcterms:modified>
</cp:coreProperties>
</file>